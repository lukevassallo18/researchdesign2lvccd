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itchFamily="2" charset="0"/>
      <p:regular r:id="rId13"/>
      <p:italic r:id="rId14"/>
    </p:embeddedFont>
    <p:embeddedFont>
      <p:font typeface="Mona Sans Semi Bold" pitchFamily="2" charset="77"/>
      <p:regular r:id="rId15"/>
    </p:embeddedFont>
  </p:embeddedFontLst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96" d="100"/>
          <a:sy n="96" d="100"/>
        </p:scale>
        <p:origin x="3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79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5CF159-3042-806D-957F-C0B6365A78B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973062" y="8013700"/>
            <a:ext cx="7096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Unclassified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8196" y="3101163"/>
            <a:ext cx="11670186" cy="425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Al Bayan Plain" pitchFamily="2" charset="-78"/>
              </a:rPr>
              <a:t>A Component-Level Analysis of UI Contrast Accessibility under Simulated Colour Vision Deficiency (CVD) Conditions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78196" y="54700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Luke Vassallo · 6.3A · Research Design 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2C07F-6173-7147-5C85-A400E1135FCD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36107"/>
            <a:ext cx="237243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37498" y="1311712"/>
            <a:ext cx="20850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RESEARCH 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68316"/>
            <a:ext cx="7623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Hypothesis &amp; Research Aim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817257"/>
            <a:ext cx="6571417" cy="4176117"/>
          </a:xfrm>
          <a:prstGeom prst="roundRect">
            <a:avLst>
              <a:gd name="adj" fmla="val 3911"/>
            </a:avLst>
          </a:prstGeom>
          <a:solidFill>
            <a:srgbClr val="424242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57250" y="30440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Hypothesis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625215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Simulated CVD conditions will reveal measurable contrast differences across UI component categories.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57250" y="4662845"/>
            <a:ext cx="6117788" cy="1690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57250" y="4991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Research Aim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7250" y="557272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Evaluate contrast performance at the component level under simulated CVD conditions.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0440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Research Questions</a:t>
            </a:r>
            <a:endParaRPr lang="en-US" sz="2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3664863"/>
            <a:ext cx="340162" cy="3401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365355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 UI components meet WCAG contrast thresholds under CVD simulation?</a:t>
            </a:r>
            <a:endParaRPr lang="en-US" sz="17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4844296"/>
            <a:ext cx="340162" cy="3401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36637" y="4832985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Does contrast performance vary significantly across component categories?</a:t>
            </a:r>
            <a:endParaRPr lang="en-US" sz="1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6023729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6637" y="601241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Which UI component categories are most vulnerable to contrast degradation?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314D8E-DF7B-E57C-7E3C-D63328D29ECD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9862"/>
            <a:ext cx="189952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37498" y="875467"/>
            <a:ext cx="161210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RESEARCH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2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Research Approach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8101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28224" y="261544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802493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8224" y="3522702"/>
            <a:ext cx="28794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Philosophical Stance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401312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Pragmatism — focused on practical, observable outcomes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381012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662982" y="261544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802493"/>
            <a:ext cx="306110" cy="306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982" y="3522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Reasoning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62982" y="401312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Deductive approach — hypothesis-driven testing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483727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1028224" y="50717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258753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8224" y="5978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Method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28224" y="646938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Quantitative, mono-method — contrast ratio measurement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428548" y="483727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7662982" y="50717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5258753"/>
            <a:ext cx="306110" cy="306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62982" y="5978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Design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662982" y="646938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Cross-sectional study — single time-point evaluation</a:t>
            </a:r>
            <a:endParaRPr lang="en-US" sz="1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F7401D-58CA-FA18-76BF-56523DCBF4F9}"/>
              </a:ext>
            </a:extLst>
          </p:cNvPr>
          <p:cNvSpPr/>
          <p:nvPr/>
        </p:nvSpPr>
        <p:spPr>
          <a:xfrm>
            <a:off x="12299324" y="7429619"/>
            <a:ext cx="2240924" cy="709829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601980"/>
            <a:ext cx="2059900" cy="415052"/>
          </a:xfrm>
          <a:prstGeom prst="roundRect">
            <a:avLst>
              <a:gd name="adj" fmla="val 17502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93921" y="674370"/>
            <a:ext cx="178534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LITERATURE CONTEXT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239619"/>
            <a:ext cx="854583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Existing Metrics &amp; Research Gap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592194" y="2290167"/>
            <a:ext cx="317944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Established Approaches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2194" y="2643323"/>
            <a:ext cx="3179445" cy="4664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Vaughan &amp; Ortiz (2026)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WCAG contrast ratio (CR) 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Pass/fail thresholds (4.5:1, 3:1) 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Page-level pass rates and failure percentages</a:t>
            </a:r>
          </a:p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Jamil et al. (2024)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CVD simulation models (</a:t>
            </a:r>
            <a:r>
              <a:rPr lang="en-US" sz="120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DaltonLens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</a:t>
            </a:r>
          </a:p>
          <a:p>
            <a:pPr>
              <a:lnSpc>
                <a:spcPts val="2650"/>
              </a:lnSpc>
              <a:buSzPct val="100000"/>
            </a:pPr>
            <a:endParaRPr lang="en-US" sz="1700" dirty="0">
              <a:solidFill>
                <a:srgbClr val="8F8F8F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2337" y="6270475"/>
            <a:ext cx="275510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Identified Limitations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2337" y="6814234"/>
            <a:ext cx="6294834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</a:rPr>
              <a:t>Page-level metrics hide component-level issues</a:t>
            </a: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</a:rPr>
              <a:t>Perceptual metrics not aligned with WCAG compliance</a:t>
            </a: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</a:rPr>
              <a:t>Simulaiton used without functional accessibility evaluation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6543" y="2290167"/>
            <a:ext cx="32826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This Study's Contribution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56063" y="2859762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556063" y="2859762"/>
            <a:ext cx="121920" cy="1374696"/>
          </a:xfrm>
          <a:prstGeom prst="roundRect">
            <a:avLst>
              <a:gd name="adj" fmla="val 74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924562" y="3106341"/>
            <a:ext cx="34995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WCAG Contrast Ratio (CR)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24562" y="3650099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Pass/fail thresholds per component (4.5:1, 3:1)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56063" y="4440436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556063" y="4440436"/>
            <a:ext cx="121920" cy="1374696"/>
          </a:xfrm>
          <a:prstGeom prst="roundRect">
            <a:avLst>
              <a:gd name="adj" fmla="val 74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924562" y="4687014"/>
            <a:ext cx="378356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Component-Level Evaluation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24562" y="5230773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 Rate (FR), Contrast Loss (CL)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56063" y="5918120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556063" y="5918120"/>
            <a:ext cx="121920" cy="1374696"/>
          </a:xfrm>
          <a:prstGeom prst="roundRect">
            <a:avLst>
              <a:gd name="adj" fmla="val 74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924562" y="6267688"/>
            <a:ext cx="488894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Component Vulnerability Score (CVS)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924562" y="6811447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 Comparison Metric</a:t>
            </a:r>
            <a:endParaRPr lang="en-US" sz="1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BCB59F-4048-A049-2797-1E33150E5505}"/>
              </a:ext>
            </a:extLst>
          </p:cNvPr>
          <p:cNvSpPr/>
          <p:nvPr/>
        </p:nvSpPr>
        <p:spPr>
          <a:xfrm>
            <a:off x="12299324" y="7601784"/>
            <a:ext cx="2240924" cy="537664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27961F-C79E-0320-8EDB-F8012DD6665C}"/>
              </a:ext>
            </a:extLst>
          </p:cNvPr>
          <p:cNvSpPr txBox="1"/>
          <p:nvPr/>
        </p:nvSpPr>
        <p:spPr>
          <a:xfrm>
            <a:off x="3688081" y="2627947"/>
            <a:ext cx="3651884" cy="315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Sajek et al. (2025)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CIELAB / $\Delta E$ (perceptual </a:t>
            </a:r>
            <a:r>
              <a:rPr lang="en-US" sz="120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colour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difference) 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Measures </a:t>
            </a:r>
            <a:r>
              <a:rPr lang="en-US" sz="120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colour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variation, not accessibility compliance</a:t>
            </a:r>
          </a:p>
          <a:p>
            <a:pPr marL="342900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700" dirty="0" err="1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Alsaeedi</a:t>
            </a: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(2020)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WAA, CER (page-level accessibility metrics) </a:t>
            </a:r>
          </a:p>
          <a:p>
            <a:pPr marL="800100" lvl="1" indent="-342900">
              <a:lnSpc>
                <a:spcPts val="265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Aggregated evaluation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291" y="486966"/>
            <a:ext cx="1185743" cy="299799"/>
          </a:xfrm>
          <a:prstGeom prst="roundRect">
            <a:avLst>
              <a:gd name="adj" fmla="val 1866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675805" y="544473"/>
            <a:ext cx="970717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68291" y="7280315"/>
            <a:ext cx="1149369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pipeline processes each website automatically, extracting UI component styles, applying three CVD simulation transforms, and evaluating WCAG 2.1 contrast ratios at the individual component level.</a:t>
            </a: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536A4-40CF-BF35-4B9F-64FA992D09C1}"/>
              </a:ext>
            </a:extLst>
          </p:cNvPr>
          <p:cNvSpPr/>
          <p:nvPr/>
        </p:nvSpPr>
        <p:spPr>
          <a:xfrm>
            <a:off x="12299324" y="7559899"/>
            <a:ext cx="2240924" cy="579549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EB0665-1237-0568-CAA4-AF3DB87E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826" y="1328936"/>
            <a:ext cx="10830628" cy="5409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634960"/>
            <a:ext cx="957263" cy="406241"/>
          </a:xfrm>
          <a:prstGeom prst="roundRect">
            <a:avLst>
              <a:gd name="adj" fmla="val 17588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79396" y="706279"/>
            <a:ext cx="686991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4260" y="1120854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Experiment at Scale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44260" y="2190631"/>
            <a:ext cx="6446282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22,950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2638306" y="314801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UI Components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44260" y="3599855"/>
            <a:ext cx="64462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Extracted and evaluated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39739" y="2190631"/>
            <a:ext cx="6446401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24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9333905" y="314801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Websites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439739" y="3599855"/>
            <a:ext cx="644640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Real-world, diverse domains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4260" y="4434364"/>
            <a:ext cx="6446282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10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2638306" y="539174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Categories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744260" y="5843588"/>
            <a:ext cx="64462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Different UI component types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439739" y="4434364"/>
            <a:ext cx="6446401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5500" dirty="0"/>
          </a:p>
        </p:txBody>
      </p:sp>
      <p:sp>
        <p:nvSpPr>
          <p:cNvPr id="15" name="Text 13"/>
          <p:cNvSpPr/>
          <p:nvPr/>
        </p:nvSpPr>
        <p:spPr>
          <a:xfrm>
            <a:off x="9333905" y="539174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CVD Conditions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439739" y="5843588"/>
            <a:ext cx="644640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Protanopia, Deuteranopia, Tritanopia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4260" y="6566772"/>
            <a:ext cx="13141881" cy="1027748"/>
          </a:xfrm>
          <a:prstGeom prst="roundRect">
            <a:avLst>
              <a:gd name="adj" fmla="val 7460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94" y="7006470"/>
            <a:ext cx="265748" cy="21264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66387" y="6935390"/>
            <a:ext cx="1223819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 categories include: Alert, Button, Card, Form, Header, Input, Link, Navigation, Text, and Other.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279764-FB95-FA17-E2E4-71A8FE76AE87}"/>
              </a:ext>
            </a:extLst>
          </p:cNvPr>
          <p:cNvSpPr/>
          <p:nvPr/>
        </p:nvSpPr>
        <p:spPr>
          <a:xfrm>
            <a:off x="12299324" y="7603926"/>
            <a:ext cx="2240924" cy="535522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547807"/>
            <a:ext cx="857250" cy="323493"/>
          </a:xfrm>
          <a:prstGeom prst="roundRect">
            <a:avLst>
              <a:gd name="adj" fmla="val 1840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315403" y="608528"/>
            <a:ext cx="629364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01460" y="926663"/>
            <a:ext cx="673500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Variables &amp; Statistical Methods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01460" y="182641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Primary Variables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01460" y="2258973"/>
            <a:ext cx="2879527" cy="1320046"/>
          </a:xfrm>
          <a:prstGeom prst="roundRect">
            <a:avLst>
              <a:gd name="adj" fmla="val 5638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01485" y="245899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Contrast Ratio (CR)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01485" y="2874169"/>
            <a:ext cx="24794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 measure per WCAG 2.1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9337" y="2258973"/>
            <a:ext cx="2879646" cy="1320046"/>
          </a:xfrm>
          <a:prstGeom prst="roundRect">
            <a:avLst>
              <a:gd name="adj" fmla="val 5638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19362" y="245899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Pass / Fail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19362" y="2874169"/>
            <a:ext cx="247959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Binary outcome against AA threshold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8799" y="182641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Statistical Methods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38799" y="2258973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38799" y="2537222"/>
            <a:ext cx="5897523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538799" y="2671524"/>
            <a:ext cx="227492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Descriptive Statistics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38799" y="3086695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Mean and standard deviation per category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38799" y="3610332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38799" y="3888581"/>
            <a:ext cx="5897523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538799" y="4022884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One-Way ANOVA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38799" y="4438055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Comparison between category groups.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38799" y="4961692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538799" y="5239941"/>
            <a:ext cx="5897523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538799" y="5374243"/>
            <a:ext cx="221825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Tukey HSD Post-Hoc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38799" y="5789414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Pairwise comparisons with error control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38799" y="6313051"/>
            <a:ext cx="3543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538799" y="6591300"/>
            <a:ext cx="5897523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538799" y="672560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Effect Size (η²)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38799" y="7140773"/>
            <a:ext cx="589752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Magnitude of observed differences</a:t>
            </a:r>
            <a:endParaRPr lang="en-US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FD979B-6191-4880-54CC-A3D797E91527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92DCBD1-B38E-2D35-C447-ACCD03D9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4078" y="3845439"/>
            <a:ext cx="5903473" cy="3836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usiness candle stick graph chart of stock market | Premium Vector">
            <a:extLst>
              <a:ext uri="{FF2B5EF4-FFF2-40B4-BE49-F238E27FC236}">
                <a16:creationId xmlns:a16="http://schemas.microsoft.com/office/drawing/2014/main" id="{B91AF66B-C33F-CDA3-63BA-7240B1EF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2" y="-13749"/>
            <a:ext cx="14630400" cy="1026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871063" y="974765"/>
            <a:ext cx="103060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1014771" y="1050369"/>
            <a:ext cx="7431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71063" y="15069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871063" y="2555915"/>
            <a:ext cx="7556421" cy="3354943"/>
          </a:xfrm>
          <a:prstGeom prst="roundRect">
            <a:avLst>
              <a:gd name="adj" fmla="val 2840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878683" y="2563535"/>
            <a:ext cx="3770590" cy="2032754"/>
          </a:xfrm>
          <a:prstGeom prst="roundRect">
            <a:avLst>
              <a:gd name="adj" fmla="val 468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05497" y="2790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85% Pass Rate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05497" y="3280767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compliance across all components and CVD conditions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49273" y="2563535"/>
            <a:ext cx="3770590" cy="2032754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649273" y="2563535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876087" y="2790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Mean CR ≈ 11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876087" y="3280767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Well above the WCAG AA threshold of 4.5:1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78683" y="4596289"/>
            <a:ext cx="7541181" cy="1306949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78683" y="4596289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105497" y="4823103"/>
            <a:ext cx="3131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Minimal CVD Variation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05497" y="531352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Contrast ratios remained stable across all three simulated conditions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871063" y="61660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WCAG contrast ratios demonstrated strong resilience under CVD simulation, suggesting luminance-based measurement is largely robust to CVD simulation.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8BDC46-57A3-4734-2AB5-FEB6791F8B99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735217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435537" y="579715"/>
            <a:ext cx="1511618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9956125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Contrast Performance by Component Category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8034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8034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3337441"/>
            <a:ext cx="39258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Component Vulnerability Score (CVS)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534513" y="3741539"/>
            <a:ext cx="57795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Link components emerged as the most vulnerable category, consistently recording the lowest contrast ratios across CVD conditions. Headers and 'Other' components also showed elevated risk.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534513" y="4670227"/>
            <a:ext cx="5779532" cy="12978"/>
          </a:xfrm>
          <a:prstGeom prst="rect">
            <a:avLst/>
          </a:prstGeom>
          <a:solidFill>
            <a:srgbClr val="8F8F8F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7534513" y="487608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534513" y="5280184"/>
            <a:ext cx="57795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Despite an overall high pass rate, component-level analysis reveals meaningful variation — validating the need for granular evaluation beyond page-level scores.</a:t>
            </a:r>
            <a:endParaRPr lang="en-US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BDD86-1A43-B6B6-F2BB-7D9D6D65F213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26770"/>
            <a:ext cx="105025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37498" y="902375"/>
            <a:ext cx="7628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CLOSING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58979"/>
            <a:ext cx="87858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Conclusions &amp; Future Directions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634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3310" y="3213735"/>
            <a:ext cx="60960" cy="1512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564" y="3244215"/>
            <a:ext cx="26928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WCAG provides a robust baseline; contrast is largely stable under CVD simulation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027408" y="3213735"/>
            <a:ext cx="60960" cy="1512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45662" y="3244215"/>
            <a:ext cx="26928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Component-level differences persist and are masked by overall scoring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63310" y="5118973"/>
            <a:ext cx="60960" cy="7867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81564" y="5149453"/>
            <a:ext cx="59569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Link components warrant targeted accessibility intervention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634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3215878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Luminance-only WCAG metric; perceptual colour models not applied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Static UI states only (no hover/focus)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Unequal sample sizes across categories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052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99521" y="5634038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UI state testing (hover effects)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studies with CVD participants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Adaptive accessibility tooling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Link Component </a:t>
            </a:r>
            <a:r>
              <a:rPr lang="en-US" sz="175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contrast improvements</a:t>
            </a:r>
            <a:endParaRPr lang="en-US" sz="1750" dirty="0">
              <a:solidFill>
                <a:srgbClr val="8F8F8F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07E0A-7BD4-EAFA-4858-2D8723423A76}"/>
              </a:ext>
            </a:extLst>
          </p:cNvPr>
          <p:cNvSpPr/>
          <p:nvPr/>
        </p:nvSpPr>
        <p:spPr>
          <a:xfrm>
            <a:off x="12299324" y="7353837"/>
            <a:ext cx="2240924" cy="785611"/>
          </a:xfrm>
          <a:prstGeom prst="rect">
            <a:avLst/>
          </a:prstGeom>
          <a:solidFill>
            <a:srgbClr val="18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641</Words>
  <Application>Microsoft Macintosh PowerPoint</Application>
  <PresentationFormat>Custom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Mona Sans Semi Bold</vt:lpstr>
      <vt:lpstr>Mona Sans Light</vt:lpstr>
      <vt:lpstr>Arial</vt:lpstr>
      <vt:lpstr>Funnel Sans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Vassallo Luke at MITA-Students</cp:lastModifiedBy>
  <cp:revision>7</cp:revision>
  <dcterms:created xsi:type="dcterms:W3CDTF">2026-05-02T08:50:42Z</dcterms:created>
  <dcterms:modified xsi:type="dcterms:W3CDTF">2026-05-03T10:27:54Z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50b0053-e9e4-4f03-b2f6-aff36cfd23c2_Enabled">
    <vt:lpwstr>true</vt:lpwstr>
  </property>
  <property fmtid="{D5CDD505-2E9C-101B-9397-08002B2CF9AE}" pid="3" name="MSIP_Label_250b0053-e9e4-4f03-b2f6-aff36cfd23c2_SetDate">
    <vt:lpwstr>2026-05-02T08:55:59Z</vt:lpwstr>
  </property>
  <property fmtid="{D5CDD505-2E9C-101B-9397-08002B2CF9AE}" pid="4" name="MSIP_Label_250b0053-e9e4-4f03-b2f6-aff36cfd23c2_Method">
    <vt:lpwstr>Standard</vt:lpwstr>
  </property>
  <property fmtid="{D5CDD505-2E9C-101B-9397-08002B2CF9AE}" pid="5" name="MSIP_Label_250b0053-e9e4-4f03-b2f6-aff36cfd23c2_Name">
    <vt:lpwstr>Unlabel</vt:lpwstr>
  </property>
  <property fmtid="{D5CDD505-2E9C-101B-9397-08002B2CF9AE}" pid="6" name="MSIP_Label_250b0053-e9e4-4f03-b2f6-aff36cfd23c2_SiteId">
    <vt:lpwstr>34cdd9f5-5db8-49bc-acba-01f65cca680d</vt:lpwstr>
  </property>
  <property fmtid="{D5CDD505-2E9C-101B-9397-08002B2CF9AE}" pid="7" name="MSIP_Label_250b0053-e9e4-4f03-b2f6-aff36cfd23c2_ActionId">
    <vt:lpwstr>6481bbb7-c286-4c20-97ab-425c345bb053</vt:lpwstr>
  </property>
  <property fmtid="{D5CDD505-2E9C-101B-9397-08002B2CF9AE}" pid="8" name="MSIP_Label_250b0053-e9e4-4f03-b2f6-aff36cfd23c2_ContentBits">
    <vt:lpwstr>2</vt:lpwstr>
  </property>
  <property fmtid="{D5CDD505-2E9C-101B-9397-08002B2CF9AE}" pid="9" name="MSIP_Label_250b0053-e9e4-4f03-b2f6-aff36cfd23c2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Unclassified</vt:lpwstr>
  </property>
</Properties>
</file>